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Garamond Bold" charset="1" panose="02020804030307010803"/>
      <p:regular r:id="rId13"/>
    </p:embeddedFont>
    <p:embeddedFont>
      <p:font typeface="Calibri (MS) Bold" charset="1" panose="020F0702030404030204"/>
      <p:regular r:id="rId14"/>
    </p:embeddedFont>
    <p:embeddedFont>
      <p:font typeface="Calibri (MS)" charset="1" panose="020F0502020204030204"/>
      <p:regular r:id="rId15"/>
    </p:embeddedFont>
    <p:embeddedFont>
      <p:font typeface="Arial Bold" charset="1" panose="020B0704020202020204"/>
      <p:regular r:id="rId16"/>
    </p:embeddedFont>
    <p:embeddedFont>
      <p:font typeface="Arial" charset="1" panose="020B0604020202020204"/>
      <p:regular r:id="rId17"/>
    </p:embeddedFont>
    <p:embeddedFont>
      <p:font typeface="Arimo Bold" charset="1" panose="020B0704020202020204"/>
      <p:regular r:id="rId21"/>
    </p:embeddedFont>
    <p:embeddedFont>
      <p:font typeface="Times New Roman Bold" charset="1" panose="02020803070505020304"/>
      <p:regular r:id="rId22"/>
    </p:embeddedFont>
    <p:embeddedFont>
      <p:font typeface="Arimo" charset="1" panose="020B0604020202020204"/>
      <p:regular r:id="rId24"/>
    </p:embeddedFont>
    <p:embeddedFont>
      <p:font typeface="Arimo Italics" charset="1" panose="020B060402020209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3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3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3.jpeg" Type="http://schemas.openxmlformats.org/officeDocument/2006/relationships/image"/><Relationship Id="rId4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85165" y="1277283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82578" y="1575897"/>
            <a:ext cx="16419471" cy="2553189"/>
            <a:chOff x="0" y="0"/>
            <a:chExt cx="21892628" cy="340425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892628" cy="3404246"/>
            </a:xfrm>
            <a:custGeom>
              <a:avLst/>
              <a:gdLst/>
              <a:ahLst/>
              <a:cxnLst/>
              <a:rect r="r" b="b" t="t" l="l"/>
              <a:pathLst>
                <a:path h="3404246" w="21892628">
                  <a:moveTo>
                    <a:pt x="0" y="0"/>
                  </a:moveTo>
                  <a:lnTo>
                    <a:pt x="21892628" y="0"/>
                  </a:lnTo>
                  <a:lnTo>
                    <a:pt x="21892628" y="3404246"/>
                  </a:lnTo>
                  <a:lnTo>
                    <a:pt x="0" y="34042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4679" r="0" b="-65936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1892628" cy="34233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919"/>
                </a:lnSpc>
              </a:pPr>
              <a:r>
                <a:rPr lang="en-US" sz="9099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RESONANCE</a:t>
              </a:r>
            </a:p>
            <a:p>
              <a:pPr algn="ctr">
                <a:lnSpc>
                  <a:spcPts val="648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080314" y="481503"/>
            <a:ext cx="2854957" cy="1094394"/>
            <a:chOff x="0" y="0"/>
            <a:chExt cx="3806609" cy="14591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06571" cy="1459230"/>
            </a:xfrm>
            <a:custGeom>
              <a:avLst/>
              <a:gdLst/>
              <a:ahLst/>
              <a:cxnLst/>
              <a:rect r="r" b="b" t="t" l="l"/>
              <a:pathLst>
                <a:path h="1459230" w="3806571">
                  <a:moveTo>
                    <a:pt x="0" y="0"/>
                  </a:moveTo>
                  <a:lnTo>
                    <a:pt x="3806571" y="0"/>
                  </a:lnTo>
                  <a:lnTo>
                    <a:pt x="3806571" y="1459230"/>
                  </a:lnTo>
                  <a:lnTo>
                    <a:pt x="0" y="14592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11" r="0" b="-109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773936" y="3120617"/>
            <a:ext cx="4306378" cy="5420097"/>
          </a:xfrm>
          <a:custGeom>
            <a:avLst/>
            <a:gdLst/>
            <a:ahLst/>
            <a:cxnLst/>
            <a:rect r="r" b="b" t="t" l="l"/>
            <a:pathLst>
              <a:path h="5420097" w="4306378">
                <a:moveTo>
                  <a:pt x="0" y="0"/>
                </a:moveTo>
                <a:lnTo>
                  <a:pt x="4306378" y="0"/>
                </a:lnTo>
                <a:lnTo>
                  <a:pt x="4306378" y="5420097"/>
                </a:lnTo>
                <a:lnTo>
                  <a:pt x="0" y="54200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88369" y="4062411"/>
            <a:ext cx="8703945" cy="6850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</a:p>
          <a:p>
            <a:pPr algn="just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Problem Statement : </a:t>
            </a: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PS 10 — Offline AI-Powered Mobile Learning Assistant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: 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Technauts</a:t>
            </a:r>
          </a:p>
          <a:p>
            <a:pPr algn="l">
              <a:lnSpc>
                <a:spcPts val="5112"/>
              </a:lnSpc>
            </a:pPr>
            <a:r>
              <a:rPr lang="en-US" sz="36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•Team Members Name: </a:t>
            </a:r>
          </a:p>
          <a:p>
            <a:pPr algn="l">
              <a:lnSpc>
                <a:spcPts val="5112"/>
              </a:lnSpc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Sri Saidhakshini Venkatesan</a:t>
            </a:r>
          </a:p>
          <a:p>
            <a:pPr algn="l">
              <a:lnSpc>
                <a:spcPts val="5112"/>
              </a:lnSpc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Gowreesh V T</a:t>
            </a:r>
          </a:p>
          <a:p>
            <a:pPr algn="l">
              <a:lnSpc>
                <a:spcPts val="5112"/>
              </a:lnSpc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Prodhosh V S </a:t>
            </a:r>
          </a:p>
          <a:p>
            <a:pPr algn="l">
              <a:lnSpc>
                <a:spcPts val="5112"/>
              </a:lnSpc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Yashwant Gokul</a:t>
            </a:r>
          </a:p>
          <a:p>
            <a:pPr algn="just">
              <a:lnSpc>
                <a:spcPts val="864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739312"/>
            <a:ext cx="18288000" cy="547688"/>
            <a:chOff x="0" y="0"/>
            <a:chExt cx="24384000" cy="730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730250"/>
            </a:xfrm>
            <a:custGeom>
              <a:avLst/>
              <a:gdLst/>
              <a:ahLst/>
              <a:cxnLst/>
              <a:rect r="r" b="b" t="t" l="l"/>
              <a:pathLst>
                <a:path h="7302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684109" y="1729871"/>
            <a:ext cx="16919781" cy="7381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925" indent="-271462" lvl="1">
              <a:lnSpc>
                <a:spcPts val="3600"/>
              </a:lnSpc>
            </a:pPr>
          </a:p>
          <a:p>
            <a:pPr algn="l" marL="542925" indent="-271462" lvl="1">
              <a:lnSpc>
                <a:spcPts val="3600"/>
              </a:lnSpc>
            </a:pPr>
            <a:r>
              <a:rPr lang="en-US" b="true" sz="3000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Solution</a:t>
            </a:r>
          </a:p>
          <a:p>
            <a:pPr algn="l" marL="542925" indent="-271462" lvl="1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Offline AI tutor — Qwen2.5-1.5B runs fully on-device via llama.cpp, no server</a:t>
            </a:r>
          </a:p>
          <a:p>
            <a:pPr algn="l" marL="542925" indent="-271462" lvl="1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Learns from your own material — PDFs/photos ingested, chunked, embedded, and retrieved on-device (RAG, no cloud, no vector DB)</a:t>
            </a:r>
          </a:p>
          <a:p>
            <a:pPr algn="l" marL="542925" indent="-271462" lvl="1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One source → many outputs: chat, quizzes, flashcards, mind maps, audio overviews, voice tutoring</a:t>
            </a:r>
          </a:p>
          <a:p>
            <a:pPr algn="l" marL="542925" indent="-271462" lvl="1">
              <a:lnSpc>
                <a:spcPts val="3600"/>
              </a:lnSpc>
            </a:pPr>
            <a:r>
              <a:rPr lang="en-US" b="true" sz="3000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Addresses the Problem</a:t>
            </a:r>
          </a:p>
          <a:p>
            <a:pPr algn="l" marL="542925" indent="-271462" lvl="1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No internet needed → works with zero connectivity</a:t>
            </a:r>
          </a:p>
          <a:p>
            <a:pPr algn="l" marL="542925" indent="-271462" lvl="1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Zero marginal cost per query → scales free</a:t>
            </a:r>
          </a:p>
          <a:p>
            <a:pPr algn="l" marL="542925" indent="-271462" lvl="1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Documents never leave the device → privacy by design</a:t>
            </a:r>
          </a:p>
          <a:p>
            <a:pPr algn="l" marL="542925" indent="-271462" lvl="1">
              <a:lnSpc>
                <a:spcPts val="3600"/>
              </a:lnSpc>
            </a:pPr>
            <a:r>
              <a:rPr lang="en-US" b="true" sz="3000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Innovation</a:t>
            </a:r>
          </a:p>
          <a:p>
            <a:pPr algn="l" marL="542925" indent="-271462" lvl="1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Full RAG pipeline with no backend, entirely in-memory on-device</a:t>
            </a:r>
          </a:p>
          <a:p>
            <a:pPr algn="l" marL="542925" indent="-271462" lvl="1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Prompt-injection hardening on retrieved content (ChatML sanitization)</a:t>
            </a:r>
          </a:p>
          <a:p>
            <a:pPr algn="l" marL="542925" indent="-271462" lvl="1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Hardware-aware inference — adapts to battery/memory, runs on background isolate</a:t>
            </a:r>
          </a:p>
          <a:p>
            <a:pPr algn="l" marL="542925" indent="-271462" lvl="1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Architected for future federated learning, no data pooling</a:t>
            </a:r>
          </a:p>
          <a:p>
            <a:pPr algn="l" marL="542925" indent="-271462" lvl="1">
              <a:lnSpc>
                <a:spcPts val="3600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13682139" y="9733169"/>
            <a:ext cx="4267200" cy="547688"/>
            <a:chOff x="0" y="0"/>
            <a:chExt cx="5689600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094382" y="317873"/>
            <a:ext cx="2854957" cy="1094394"/>
            <a:chOff x="0" y="0"/>
            <a:chExt cx="3806609" cy="145919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06571" cy="1459230"/>
            </a:xfrm>
            <a:custGeom>
              <a:avLst/>
              <a:gdLst/>
              <a:ahLst/>
              <a:cxnLst/>
              <a:rect r="r" b="b" t="t" l="l"/>
              <a:pathLst>
                <a:path h="1459230" w="3806571">
                  <a:moveTo>
                    <a:pt x="0" y="0"/>
                  </a:moveTo>
                  <a:lnTo>
                    <a:pt x="3806571" y="0"/>
                  </a:lnTo>
                  <a:lnTo>
                    <a:pt x="3806571" y="1459230"/>
                  </a:lnTo>
                  <a:lnTo>
                    <a:pt x="0" y="14592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11" r="0" b="-10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84109" y="171450"/>
            <a:ext cx="16459200" cy="1714500"/>
            <a:chOff x="0" y="0"/>
            <a:chExt cx="21945600" cy="2286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Proposed Solution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739312"/>
            <a:ext cx="18288000" cy="547688"/>
            <a:chOff x="0" y="0"/>
            <a:chExt cx="24384000" cy="730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730250"/>
            </a:xfrm>
            <a:custGeom>
              <a:avLst/>
              <a:gdLst/>
              <a:ahLst/>
              <a:cxnLst/>
              <a:rect r="r" b="b" t="t" l="l"/>
              <a:pathLst>
                <a:path h="7302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682139" y="9733169"/>
            <a:ext cx="4267200" cy="547688"/>
            <a:chOff x="0" y="0"/>
            <a:chExt cx="5689600" cy="730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marL="0" indent="0" lvl="0">
                <a:lnSpc>
                  <a:spcPts val="216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094382" y="317873"/>
            <a:ext cx="2854957" cy="1094394"/>
            <a:chOff x="0" y="0"/>
            <a:chExt cx="3806609" cy="14591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06571" cy="1459230"/>
            </a:xfrm>
            <a:custGeom>
              <a:avLst/>
              <a:gdLst/>
              <a:ahLst/>
              <a:cxnLst/>
              <a:rect r="r" b="b" t="t" l="l"/>
              <a:pathLst>
                <a:path h="1459230" w="3806571">
                  <a:moveTo>
                    <a:pt x="0" y="0"/>
                  </a:moveTo>
                  <a:lnTo>
                    <a:pt x="3806571" y="0"/>
                  </a:lnTo>
                  <a:lnTo>
                    <a:pt x="3806571" y="1459230"/>
                  </a:lnTo>
                  <a:lnTo>
                    <a:pt x="0" y="14592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11" r="0" b="-109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2660" y="171450"/>
            <a:ext cx="16459200" cy="1714500"/>
            <a:chOff x="0" y="0"/>
            <a:chExt cx="21945600" cy="228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 STACK 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143970" y="1989262"/>
            <a:ext cx="3725083" cy="407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</a:pPr>
            <a:r>
              <a:rPr lang="en-US" sz="2349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Technology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371123" y="2036887"/>
            <a:ext cx="8924679" cy="407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</a:pPr>
            <a:r>
              <a:rPr lang="en-US" sz="2349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Purpose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43970" y="2691572"/>
            <a:ext cx="3725083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sz="204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Flutter 3.22+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179477" y="2691572"/>
            <a:ext cx="8924679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sz="204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Cross-platform UI framework (Android, Web, iOS)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143970" y="3120197"/>
            <a:ext cx="3725083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sz="204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Dart 3.9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179477" y="3120197"/>
            <a:ext cx="8924679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sz="204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Primary programming language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143970" y="3548822"/>
            <a:ext cx="3725083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sz="204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llama.cpp (ARM64)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179477" y="3548822"/>
            <a:ext cx="8924679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sz="204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On-device LLM inference engine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143970" y="3977447"/>
            <a:ext cx="3725083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sz="204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Qwen 2.5-1.5B-Instruct (GGUF)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179477" y="3977447"/>
            <a:ext cx="8924679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sz="204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Quantized offline AI model (~1.1GB)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143970" y="4406072"/>
            <a:ext cx="3725083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sz="204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Dart FFI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179477" y="4406072"/>
            <a:ext cx="8924679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sz="204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Native C++ bridge for zero-latency inference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143970" y="4715953"/>
            <a:ext cx="3725083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sz="204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Riverpod 2.x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179477" y="4715953"/>
            <a:ext cx="8924679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sz="204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Reactive state management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143970" y="5144578"/>
            <a:ext cx="3725083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sz="204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Hive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179477" y="5144578"/>
            <a:ext cx="8924679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sz="204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Local encrypted database for chat history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143970" y="5573203"/>
            <a:ext cx="3725083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sz="204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SharedPreferences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179477" y="5573203"/>
            <a:ext cx="8924679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sz="204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User profile, settings &amp; progress persistence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143970" y="6001828"/>
            <a:ext cx="3725083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sz="204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Twilio Voice API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179477" y="6001828"/>
            <a:ext cx="8924679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sz="204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Outbound AI tutor phone calls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143970" y="6430453"/>
            <a:ext cx="3725083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sz="204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ElevenLabs Conversational AI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179477" y="6430453"/>
            <a:ext cx="8924679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sz="204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Neural voice for the cellular tutor bridge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143970" y="6859078"/>
            <a:ext cx="3725083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sz="204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Syncfusion Flutter PDF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179477" y="6859078"/>
            <a:ext cx="8924679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sz="204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On-device PDF text extraction (offline RAG)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143970" y="7287703"/>
            <a:ext cx="3725083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sz="204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Google ML Kit OCR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179477" y="7287703"/>
            <a:ext cx="8924679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sz="204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On-device camera text recognition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143970" y="7716328"/>
            <a:ext cx="3725083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sz="204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flutter_math_fork (KaTeX)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179477" y="7716328"/>
            <a:ext cx="8924679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sz="204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Offline LaTeX math equation rendering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3143970" y="2558222"/>
            <a:ext cx="12960186" cy="19050"/>
            <a:chOff x="0" y="0"/>
            <a:chExt cx="17280248" cy="25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7280248" cy="25400"/>
            </a:xfrm>
            <a:custGeom>
              <a:avLst/>
              <a:gdLst/>
              <a:ahLst/>
              <a:cxnLst/>
              <a:rect r="r" b="b" t="t" l="l"/>
              <a:pathLst>
                <a:path h="25400" w="17280248">
                  <a:moveTo>
                    <a:pt x="0" y="0"/>
                  </a:moveTo>
                  <a:lnTo>
                    <a:pt x="17280248" y="0"/>
                  </a:lnTo>
                  <a:lnTo>
                    <a:pt x="17280248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17280248" cy="73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552450"/>
            <a:ext cx="16459200" cy="84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SYSTEM ARCHITECTURE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9739312"/>
            <a:ext cx="18288000" cy="547688"/>
            <a:chOff x="0" y="0"/>
            <a:chExt cx="24384000" cy="7302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730250"/>
            </a:xfrm>
            <a:custGeom>
              <a:avLst/>
              <a:gdLst/>
              <a:ahLst/>
              <a:cxnLst/>
              <a:rect r="r" b="b" t="t" l="l"/>
              <a:pathLst>
                <a:path h="7302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768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3677900" y="9753600"/>
            <a:ext cx="42672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4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28750" y="4095750"/>
            <a:ext cx="2381250" cy="1524000"/>
            <a:chOff x="0" y="0"/>
            <a:chExt cx="3175000" cy="2032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175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3175000">
                  <a:moveTo>
                    <a:pt x="0" y="0"/>
                  </a:moveTo>
                  <a:lnTo>
                    <a:pt x="3175000" y="0"/>
                  </a:lnTo>
                  <a:lnTo>
                    <a:pt x="31750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3175000" cy="2079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3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048125" y="4095750"/>
            <a:ext cx="2381250" cy="1524000"/>
            <a:chOff x="0" y="0"/>
            <a:chExt cx="3175000" cy="2032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75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3175000">
                  <a:moveTo>
                    <a:pt x="0" y="0"/>
                  </a:moveTo>
                  <a:lnTo>
                    <a:pt x="3175000" y="0"/>
                  </a:lnTo>
                  <a:lnTo>
                    <a:pt x="31750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3175000" cy="2079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3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667500" y="4095750"/>
            <a:ext cx="2381250" cy="1524000"/>
            <a:chOff x="0" y="0"/>
            <a:chExt cx="3175000" cy="2032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175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3175000">
                  <a:moveTo>
                    <a:pt x="0" y="0"/>
                  </a:moveTo>
                  <a:lnTo>
                    <a:pt x="3175000" y="0"/>
                  </a:lnTo>
                  <a:lnTo>
                    <a:pt x="31750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3175000" cy="2079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3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286875" y="4095750"/>
            <a:ext cx="2381250" cy="1524000"/>
            <a:chOff x="0" y="0"/>
            <a:chExt cx="3175000" cy="2032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175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3175000">
                  <a:moveTo>
                    <a:pt x="0" y="0"/>
                  </a:moveTo>
                  <a:lnTo>
                    <a:pt x="3175000" y="0"/>
                  </a:lnTo>
                  <a:lnTo>
                    <a:pt x="31750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3175000" cy="2079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3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906250" y="4095750"/>
            <a:ext cx="2381250" cy="1524000"/>
            <a:chOff x="0" y="0"/>
            <a:chExt cx="3175000" cy="2032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175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3175000">
                  <a:moveTo>
                    <a:pt x="0" y="0"/>
                  </a:moveTo>
                  <a:lnTo>
                    <a:pt x="3175000" y="0"/>
                  </a:lnTo>
                  <a:lnTo>
                    <a:pt x="31750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3175000" cy="2079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3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525625" y="4095750"/>
            <a:ext cx="2381250" cy="1524000"/>
            <a:chOff x="0" y="0"/>
            <a:chExt cx="3175000" cy="2032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175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3175000">
                  <a:moveTo>
                    <a:pt x="0" y="0"/>
                  </a:moveTo>
                  <a:lnTo>
                    <a:pt x="3175000" y="0"/>
                  </a:lnTo>
                  <a:lnTo>
                    <a:pt x="31750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3175000" cy="2079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37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571625" y="4381500"/>
            <a:ext cx="209550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4"/>
              </a:lnSpc>
            </a:pPr>
            <a:r>
              <a:rPr lang="en-US" sz="162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Content Input</a:t>
            </a:r>
          </a:p>
          <a:p>
            <a:pPr algn="ctr">
              <a:lnSpc>
                <a:spcPts val="2274"/>
              </a:lnSpc>
            </a:pPr>
            <a:r>
              <a:rPr lang="en-US" sz="162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PDF · Photo · Text · Voice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191000" y="4381500"/>
            <a:ext cx="209550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4"/>
              </a:lnSpc>
            </a:pPr>
            <a:r>
              <a:rPr lang="en-US" sz="162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Extract &amp; Chunk</a:t>
            </a:r>
          </a:p>
          <a:p>
            <a:pPr algn="ctr">
              <a:lnSpc>
                <a:spcPts val="2274"/>
              </a:lnSpc>
            </a:pPr>
            <a:r>
              <a:rPr lang="en-US" sz="162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OCR, PDF parse, 700-char chunks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810375" y="4381500"/>
            <a:ext cx="209550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4"/>
              </a:lnSpc>
            </a:pPr>
            <a:r>
              <a:rPr lang="en-US" sz="162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Embed &amp; Retrieve</a:t>
            </a:r>
          </a:p>
          <a:p>
            <a:pPr algn="ctr">
              <a:lnSpc>
                <a:spcPts val="2274"/>
              </a:lnSpc>
            </a:pPr>
            <a:r>
              <a:rPr lang="en-US" sz="162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on-device embedding, cosine top-4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429750" y="4381500"/>
            <a:ext cx="2095500" cy="57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4"/>
              </a:lnSpc>
            </a:pPr>
            <a:r>
              <a:rPr lang="en-US" sz="162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Prompt Builder</a:t>
            </a:r>
          </a:p>
          <a:p>
            <a:pPr algn="ctr">
              <a:lnSpc>
                <a:spcPts val="2274"/>
              </a:lnSpc>
            </a:pPr>
            <a:r>
              <a:rPr lang="en-US" sz="162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ChatML, sanitized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049125" y="4381500"/>
            <a:ext cx="209550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4"/>
              </a:lnSpc>
            </a:pPr>
            <a:r>
              <a:rPr lang="en-US" sz="162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On-Device LLM</a:t>
            </a:r>
          </a:p>
          <a:p>
            <a:pPr algn="ctr">
              <a:lnSpc>
                <a:spcPts val="2274"/>
              </a:lnSpc>
            </a:pPr>
            <a:r>
              <a:rPr lang="en-US" sz="162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Qwen2.5-1.5B · llama.cpp (ARM64)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668500" y="4381500"/>
            <a:ext cx="209550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4"/>
              </a:lnSpc>
            </a:pPr>
            <a:r>
              <a:rPr lang="en-US" sz="162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Response</a:t>
            </a:r>
          </a:p>
          <a:p>
            <a:pPr algn="ctr">
              <a:lnSpc>
                <a:spcPts val="2274"/>
              </a:lnSpc>
            </a:pPr>
            <a:r>
              <a:rPr lang="en-US" sz="162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Chat · Quiz · Studio · Voice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3810000" y="4838700"/>
            <a:ext cx="238125" cy="38100"/>
            <a:chOff x="0" y="0"/>
            <a:chExt cx="317500" cy="50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17500" cy="50800"/>
            </a:xfrm>
            <a:custGeom>
              <a:avLst/>
              <a:gdLst/>
              <a:ahLst/>
              <a:cxnLst/>
              <a:rect r="r" b="b" t="t" l="l"/>
              <a:pathLst>
                <a:path h="50800" w="317500">
                  <a:moveTo>
                    <a:pt x="0" y="0"/>
                  </a:moveTo>
                  <a:lnTo>
                    <a:pt x="317500" y="0"/>
                  </a:lnTo>
                  <a:lnTo>
                    <a:pt x="3175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317500" cy="98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37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3914775" y="4800600"/>
            <a:ext cx="133350" cy="114300"/>
            <a:chOff x="0" y="0"/>
            <a:chExt cx="177800" cy="152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77800" cy="152400"/>
            </a:xfrm>
            <a:custGeom>
              <a:avLst/>
              <a:gdLst/>
              <a:ahLst/>
              <a:cxnLst/>
              <a:rect r="r" b="b" t="t" l="l"/>
              <a:pathLst>
                <a:path h="152400" w="177800">
                  <a:moveTo>
                    <a:pt x="0" y="0"/>
                  </a:moveTo>
                  <a:lnTo>
                    <a:pt x="177800" y="762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177800" cy="200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37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429375" y="4838700"/>
            <a:ext cx="238125" cy="38100"/>
            <a:chOff x="0" y="0"/>
            <a:chExt cx="317500" cy="50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17500" cy="50800"/>
            </a:xfrm>
            <a:custGeom>
              <a:avLst/>
              <a:gdLst/>
              <a:ahLst/>
              <a:cxnLst/>
              <a:rect r="r" b="b" t="t" l="l"/>
              <a:pathLst>
                <a:path h="50800" w="317500">
                  <a:moveTo>
                    <a:pt x="0" y="0"/>
                  </a:moveTo>
                  <a:lnTo>
                    <a:pt x="317500" y="0"/>
                  </a:lnTo>
                  <a:lnTo>
                    <a:pt x="3175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317500" cy="98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37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534150" y="4800600"/>
            <a:ext cx="133350" cy="114300"/>
            <a:chOff x="0" y="0"/>
            <a:chExt cx="177800" cy="152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77800" cy="152400"/>
            </a:xfrm>
            <a:custGeom>
              <a:avLst/>
              <a:gdLst/>
              <a:ahLst/>
              <a:cxnLst/>
              <a:rect r="r" b="b" t="t" l="l"/>
              <a:pathLst>
                <a:path h="152400" w="177800">
                  <a:moveTo>
                    <a:pt x="0" y="0"/>
                  </a:moveTo>
                  <a:lnTo>
                    <a:pt x="177800" y="762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177800" cy="200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379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048750" y="4838700"/>
            <a:ext cx="238125" cy="38100"/>
            <a:chOff x="0" y="0"/>
            <a:chExt cx="317500" cy="50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17500" cy="50800"/>
            </a:xfrm>
            <a:custGeom>
              <a:avLst/>
              <a:gdLst/>
              <a:ahLst/>
              <a:cxnLst/>
              <a:rect r="r" b="b" t="t" l="l"/>
              <a:pathLst>
                <a:path h="50800" w="317500">
                  <a:moveTo>
                    <a:pt x="0" y="0"/>
                  </a:moveTo>
                  <a:lnTo>
                    <a:pt x="317500" y="0"/>
                  </a:lnTo>
                  <a:lnTo>
                    <a:pt x="3175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317500" cy="98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37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153525" y="4800600"/>
            <a:ext cx="133350" cy="114300"/>
            <a:chOff x="0" y="0"/>
            <a:chExt cx="177800" cy="1524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77800" cy="152400"/>
            </a:xfrm>
            <a:custGeom>
              <a:avLst/>
              <a:gdLst/>
              <a:ahLst/>
              <a:cxnLst/>
              <a:rect r="r" b="b" t="t" l="l"/>
              <a:pathLst>
                <a:path h="152400" w="177800">
                  <a:moveTo>
                    <a:pt x="0" y="0"/>
                  </a:moveTo>
                  <a:lnTo>
                    <a:pt x="177800" y="762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177800" cy="200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37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668125" y="4838700"/>
            <a:ext cx="238125" cy="38100"/>
            <a:chOff x="0" y="0"/>
            <a:chExt cx="317500" cy="50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17500" cy="50800"/>
            </a:xfrm>
            <a:custGeom>
              <a:avLst/>
              <a:gdLst/>
              <a:ahLst/>
              <a:cxnLst/>
              <a:rect r="r" b="b" t="t" l="l"/>
              <a:pathLst>
                <a:path h="50800" w="317500">
                  <a:moveTo>
                    <a:pt x="0" y="0"/>
                  </a:moveTo>
                  <a:lnTo>
                    <a:pt x="317500" y="0"/>
                  </a:lnTo>
                  <a:lnTo>
                    <a:pt x="3175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317500" cy="98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37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1772900" y="4800600"/>
            <a:ext cx="133350" cy="114300"/>
            <a:chOff x="0" y="0"/>
            <a:chExt cx="177800" cy="1524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77800" cy="152400"/>
            </a:xfrm>
            <a:custGeom>
              <a:avLst/>
              <a:gdLst/>
              <a:ahLst/>
              <a:cxnLst/>
              <a:rect r="r" b="b" t="t" l="l"/>
              <a:pathLst>
                <a:path h="152400" w="177800">
                  <a:moveTo>
                    <a:pt x="0" y="0"/>
                  </a:moveTo>
                  <a:lnTo>
                    <a:pt x="177800" y="762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177800" cy="200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379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4287500" y="4838700"/>
            <a:ext cx="238125" cy="38100"/>
            <a:chOff x="0" y="0"/>
            <a:chExt cx="317500" cy="508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17500" cy="50800"/>
            </a:xfrm>
            <a:custGeom>
              <a:avLst/>
              <a:gdLst/>
              <a:ahLst/>
              <a:cxnLst/>
              <a:rect r="r" b="b" t="t" l="l"/>
              <a:pathLst>
                <a:path h="50800" w="317500">
                  <a:moveTo>
                    <a:pt x="0" y="0"/>
                  </a:moveTo>
                  <a:lnTo>
                    <a:pt x="317500" y="0"/>
                  </a:lnTo>
                  <a:lnTo>
                    <a:pt x="3175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317500" cy="98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379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4392275" y="4800600"/>
            <a:ext cx="133350" cy="114300"/>
            <a:chOff x="0" y="0"/>
            <a:chExt cx="177800" cy="152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77800" cy="152400"/>
            </a:xfrm>
            <a:custGeom>
              <a:avLst/>
              <a:gdLst/>
              <a:ahLst/>
              <a:cxnLst/>
              <a:rect r="r" b="b" t="t" l="l"/>
              <a:pathLst>
                <a:path h="152400" w="177800">
                  <a:moveTo>
                    <a:pt x="0" y="0"/>
                  </a:moveTo>
                  <a:lnTo>
                    <a:pt x="177800" y="762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177800" cy="200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379"/>
                </a:lnSpc>
              </a:pP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4381500" y="6134100"/>
            <a:ext cx="9525000" cy="334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9"/>
              </a:lnSpc>
            </a:pPr>
            <a:r>
              <a:rPr lang="en-US" sz="1849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Every step runs on-device — no network call, start to finish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1949" y="820574"/>
            <a:ext cx="16459200" cy="1684623"/>
            <a:chOff x="0" y="0"/>
            <a:chExt cx="21945600" cy="22461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46164"/>
            </a:xfrm>
            <a:custGeom>
              <a:avLst/>
              <a:gdLst/>
              <a:ahLst/>
              <a:cxnLst/>
              <a:rect r="r" b="b" t="t" l="l"/>
              <a:pathLst>
                <a:path h="224616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46164"/>
                  </a:lnTo>
                  <a:lnTo>
                    <a:pt x="0" y="22461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487" r="0" b="-14126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2747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SOLUTION FEASIBILITY &amp; VIABILITY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05840" y="3827145"/>
            <a:ext cx="13895070" cy="512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60095" indent="-380048" lvl="1">
              <a:lnSpc>
                <a:spcPts val="5040"/>
              </a:lnSpc>
              <a:spcBef>
                <a:spcPct val="0"/>
              </a:spcBef>
              <a:buFont typeface="Arial"/>
              <a:buChar char="•"/>
            </a:pPr>
            <a:r>
              <a:rPr lang="en-US" sz="420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Feasible today — chat, RAG, quizzes &amp; voice already run on-device on Android, validated on a built-in benchmark screen</a:t>
            </a:r>
          </a:p>
          <a:p>
            <a:pPr algn="just" marL="760095" indent="-380048" lvl="1">
              <a:lnSpc>
                <a:spcPts val="5040"/>
              </a:lnSpc>
              <a:spcBef>
                <a:spcPct val="0"/>
              </a:spcBef>
              <a:buFont typeface="Arial"/>
              <a:buChar char="•"/>
            </a:pPr>
            <a:r>
              <a:rPr lang="en-US" sz="420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Challenges: device hardware fragmentation, 1.5B-model accuracy limits, noisy OCR, battery drain</a:t>
            </a:r>
          </a:p>
          <a:p>
            <a:pPr algn="just" marL="760095" indent="-380048" lvl="1">
              <a:lnSpc>
                <a:spcPts val="5040"/>
              </a:lnSpc>
              <a:spcBef>
                <a:spcPct val="0"/>
              </a:spcBef>
              <a:buFont typeface="Arial"/>
              <a:buChar char="•"/>
            </a:pPr>
            <a:r>
              <a:rPr lang="en-US" sz="420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Strategies: aggressive quantization, hardware-aware context sizing, RAG grounding, benchmark-gated rollout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5094382" y="273377"/>
            <a:ext cx="2854957" cy="1094394"/>
            <a:chOff x="0" y="0"/>
            <a:chExt cx="3806609" cy="14591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06571" cy="1459230"/>
            </a:xfrm>
            <a:custGeom>
              <a:avLst/>
              <a:gdLst/>
              <a:ahLst/>
              <a:cxnLst/>
              <a:rect r="r" b="b" t="t" l="l"/>
              <a:pathLst>
                <a:path h="1459230" w="3806571">
                  <a:moveTo>
                    <a:pt x="0" y="0"/>
                  </a:moveTo>
                  <a:lnTo>
                    <a:pt x="3806571" y="0"/>
                  </a:lnTo>
                  <a:lnTo>
                    <a:pt x="3806571" y="1459230"/>
                  </a:lnTo>
                  <a:lnTo>
                    <a:pt x="0" y="14592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11" r="0" b="-10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9739312"/>
            <a:ext cx="18288000" cy="547688"/>
            <a:chOff x="0" y="0"/>
            <a:chExt cx="243840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730250"/>
            </a:xfrm>
            <a:custGeom>
              <a:avLst/>
              <a:gdLst/>
              <a:ahLst/>
              <a:cxnLst/>
              <a:rect r="r" b="b" t="t" l="l"/>
              <a:pathLst>
                <a:path h="7302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682139" y="9733169"/>
            <a:ext cx="4267200" cy="547688"/>
            <a:chOff x="0" y="0"/>
            <a:chExt cx="5689600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marL="0" indent="0" lvl="0">
                <a:lnSpc>
                  <a:spcPts val="216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1396636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REAL WORLD IMPACTS, BENEFITS &amp; RELEVANCE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05840" y="3928748"/>
            <a:ext cx="15802185" cy="320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60095" indent="-380048" lvl="1">
              <a:lnSpc>
                <a:spcPts val="5040"/>
              </a:lnSpc>
              <a:spcBef>
                <a:spcPct val="0"/>
              </a:spcBef>
              <a:buFont typeface="Arial"/>
              <a:buChar char="•"/>
            </a:pPr>
            <a:r>
              <a:rPr lang="en-US" sz="420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Equal, private AI tutoring for rural, low-connectivity, and low-income students that cloud tutors can't reach</a:t>
            </a:r>
          </a:p>
          <a:p>
            <a:pPr algn="just" marL="760095" indent="-380048" lvl="1">
              <a:lnSpc>
                <a:spcPts val="5040"/>
              </a:lnSpc>
              <a:spcBef>
                <a:spcPct val="0"/>
              </a:spcBef>
              <a:buFont typeface="Arial"/>
              <a:buChar char="•"/>
            </a:pPr>
            <a:r>
              <a:rPr lang="en-US" sz="420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Social: educational equity &amp; privacy for minors  ·  Economic: zero recurring cost, scales for free  ·  Environmental: no per-query data-center compute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5094382" y="302242"/>
            <a:ext cx="2854957" cy="1094394"/>
            <a:chOff x="0" y="0"/>
            <a:chExt cx="3806609" cy="14591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06571" cy="1459230"/>
            </a:xfrm>
            <a:custGeom>
              <a:avLst/>
              <a:gdLst/>
              <a:ahLst/>
              <a:cxnLst/>
              <a:rect r="r" b="b" t="t" l="l"/>
              <a:pathLst>
                <a:path h="1459230" w="3806571">
                  <a:moveTo>
                    <a:pt x="0" y="0"/>
                  </a:moveTo>
                  <a:lnTo>
                    <a:pt x="3806571" y="0"/>
                  </a:lnTo>
                  <a:lnTo>
                    <a:pt x="3806571" y="1459230"/>
                  </a:lnTo>
                  <a:lnTo>
                    <a:pt x="0" y="14592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11" r="0" b="-10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9739312"/>
            <a:ext cx="18288000" cy="547688"/>
            <a:chOff x="0" y="0"/>
            <a:chExt cx="243840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730250"/>
            </a:xfrm>
            <a:custGeom>
              <a:avLst/>
              <a:gdLst/>
              <a:ahLst/>
              <a:cxnLst/>
              <a:rect r="r" b="b" t="t" l="l"/>
              <a:pathLst>
                <a:path h="7302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682139" y="9733169"/>
            <a:ext cx="4267200" cy="547688"/>
            <a:chOff x="0" y="0"/>
            <a:chExt cx="5689600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marL="0" indent="0" lvl="0">
                <a:lnSpc>
                  <a:spcPts val="216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7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25740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82636" y="3203756"/>
            <a:ext cx="14249846" cy="320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60095" indent="-380048" lvl="1">
              <a:lnSpc>
                <a:spcPts val="5040"/>
              </a:lnSpc>
              <a:spcBef>
                <a:spcPct val="0"/>
              </a:spcBef>
              <a:buFont typeface="Arial"/>
              <a:buChar char="•"/>
            </a:pPr>
            <a:r>
              <a:rPr lang="en-US" sz="420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McMahan et al. (2017) — Federated Averaging (FedAvg)</a:t>
            </a:r>
          </a:p>
          <a:p>
            <a:pPr algn="just" marL="760095" indent="-380048" lvl="1">
              <a:lnSpc>
                <a:spcPts val="5040"/>
              </a:lnSpc>
              <a:spcBef>
                <a:spcPct val="0"/>
              </a:spcBef>
              <a:buFont typeface="Arial"/>
              <a:buChar char="•"/>
            </a:pPr>
            <a:r>
              <a:rPr lang="en-US" sz="420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Reimers &amp; Gurevych (2019) — Sentence-BERT / MiniLM</a:t>
            </a:r>
          </a:p>
          <a:p>
            <a:pPr algn="just" marL="760095" indent="-380048" lvl="1">
              <a:lnSpc>
                <a:spcPts val="5040"/>
              </a:lnSpc>
              <a:spcBef>
                <a:spcPct val="0"/>
              </a:spcBef>
              <a:buFont typeface="Arial"/>
              <a:buChar char="•"/>
            </a:pPr>
            <a:r>
              <a:rPr lang="en-US" sz="420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Lewis et al. (2020) — Retrieval-Augmented Generation</a:t>
            </a:r>
          </a:p>
          <a:p>
            <a:pPr algn="just" marL="760095" indent="-380048" lvl="1">
              <a:lnSpc>
                <a:spcPts val="5040"/>
              </a:lnSpc>
              <a:spcBef>
                <a:spcPct val="0"/>
              </a:spcBef>
              <a:buFont typeface="Arial"/>
              <a:buChar char="•"/>
            </a:pPr>
            <a:r>
              <a:rPr lang="en-US" sz="420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ggerganov/llama.cpp — on-device GGUF inference</a:t>
            </a:r>
          </a:p>
          <a:p>
            <a:pPr algn="just" marL="760095" indent="-380048" lvl="1">
              <a:lnSpc>
                <a:spcPts val="5040"/>
              </a:lnSpc>
              <a:spcBef>
                <a:spcPct val="0"/>
              </a:spcBef>
              <a:buFont typeface="Arial"/>
              <a:buChar char="•"/>
            </a:pPr>
            <a:r>
              <a:rPr lang="en-US" sz="420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Qwen Team (2024) — Qwen2.5 Technical Report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5255686" y="278543"/>
            <a:ext cx="2854957" cy="1094394"/>
            <a:chOff x="0" y="0"/>
            <a:chExt cx="3806609" cy="14591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06571" cy="1459230"/>
            </a:xfrm>
            <a:custGeom>
              <a:avLst/>
              <a:gdLst/>
              <a:ahLst/>
              <a:cxnLst/>
              <a:rect r="r" b="b" t="t" l="l"/>
              <a:pathLst>
                <a:path h="1459230" w="3806571">
                  <a:moveTo>
                    <a:pt x="0" y="0"/>
                  </a:moveTo>
                  <a:lnTo>
                    <a:pt x="3806571" y="0"/>
                  </a:lnTo>
                  <a:lnTo>
                    <a:pt x="3806571" y="1459230"/>
                  </a:lnTo>
                  <a:lnTo>
                    <a:pt x="0" y="14592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11" r="0" b="-10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9739312"/>
            <a:ext cx="18288000" cy="547688"/>
            <a:chOff x="0" y="0"/>
            <a:chExt cx="243840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730250"/>
            </a:xfrm>
            <a:custGeom>
              <a:avLst/>
              <a:gdLst/>
              <a:ahLst/>
              <a:cxnLst/>
              <a:rect r="r" b="b" t="t" l="l"/>
              <a:pathLst>
                <a:path h="7302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682139" y="9733169"/>
            <a:ext cx="4267200" cy="547688"/>
            <a:chOff x="0" y="0"/>
            <a:chExt cx="5689600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7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DAHUrgTo_wM</dc:identifier>
  <dcterms:modified xsi:type="dcterms:W3CDTF">2011-08-01T06:04:30Z</dcterms:modified>
  <cp:revision>1</cp:revision>
  <dc:title>VITISH'26_IdeaTemplate.pptx</dc:title>
</cp:coreProperties>
</file>